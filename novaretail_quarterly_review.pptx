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75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/>
              <a:t>Revenue by Region Across Quarters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2026-Q1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Europe</c:v>
                </c:pt>
                <c:pt idx="2">
                  <c:v>Latin America</c:v>
                </c:pt>
                <c:pt idx="3">
                  <c:v>North America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305</c:v>
                </c:pt>
                <c:pt idx="1">
                  <c:v>330</c:v>
                </c:pt>
                <c:pt idx="2">
                  <c:v>150</c:v>
                </c:pt>
                <c:pt idx="3">
                  <c:v>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028-47FA-8BF7-AF5780F82A7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2026-Q2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Europe</c:v>
                </c:pt>
                <c:pt idx="2">
                  <c:v>Latin America</c:v>
                </c:pt>
                <c:pt idx="3">
                  <c:v>North America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330</c:v>
                </c:pt>
                <c:pt idx="1">
                  <c:v>345</c:v>
                </c:pt>
                <c:pt idx="2">
                  <c:v>140</c:v>
                </c:pt>
                <c:pt idx="3">
                  <c:v>465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028-47FA-8BF7-AF5780F82A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r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/>
              <a:t>Average NPS by Region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NPS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Europe</c:v>
                </c:pt>
                <c:pt idx="2">
                  <c:v>Latin America</c:v>
                </c:pt>
                <c:pt idx="3">
                  <c:v>North America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</c:v>
                </c:pt>
                <c:pt idx="1">
                  <c:v>53</c:v>
                </c:pt>
                <c:pt idx="2">
                  <c:v>29</c:v>
                </c:pt>
                <c:pt idx="3">
                  <c:v>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B34-44CE-AE26-8B751509EC3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/>
              <a:t>Stockout Rate by Region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Stockout_Rate_pct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Europe</c:v>
                </c:pt>
                <c:pt idx="2">
                  <c:v>Latin America</c:v>
                </c:pt>
                <c:pt idx="3">
                  <c:v>North America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8.5</c:v>
                </c:pt>
                <c:pt idx="1">
                  <c:v>4</c:v>
                </c:pt>
                <c:pt idx="2">
                  <c:v>12.5</c:v>
                </c:pt>
                <c:pt idx="3">
                  <c:v>3.8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75-45D1-B8FF-9067A6D1C3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47328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7BC4C19-D015-5A8A-7D8C-263AD3DC946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72580"/>
            <a:ext cx="855663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317100">
                    <a:alpha val="50000"/>
                  </a:srgbClr>
                </a:solidFill>
                <a:latin typeface="Aptos" panose="020B0004020202020204" pitchFamily="34" charset="0"/>
              </a:rPr>
              <a:t>Sensitivity: Internal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k_title"/>
          <p:cNvSpPr txBox="1"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NovaRetail — Quarterly Business Review</a:t>
            </a:r>
            <a:endParaRPr lang="en-US" sz="3200" dirty="0"/>
          </a:p>
        </p:txBody>
      </p:sp>
      <p:sp>
        <p:nvSpPr>
          <p:cNvPr id="3" name="subtitle_1"/>
          <p:cNvSpPr txBox="1"/>
          <p:nvPr/>
        </p:nvSpPr>
        <p:spPr>
          <a:xfrm>
            <a:off x="548640" y="107899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 sz="1200"/>
            </a:pPr>
            <a:r>
              <a:rPr b="1">
                <a:solidFill>
                  <a:srgbClr val="FFFFFF"/>
                </a:solidFill>
              </a:rPr>
              <a:t>2026-Q2 Business Review</a:t>
            </a:r>
            <a:endParaRPr lang="en-US" sz="1500" dirty="0"/>
          </a:p>
        </p:txBody>
      </p:sp>
      <p:sp>
        <p:nvSpPr>
          <p:cNvPr id="4" name="kpi1_box"/>
          <p:cNvSpPr/>
          <p:nvPr/>
        </p:nvSpPr>
        <p:spPr>
          <a:xfrm>
            <a:off x="548640" y="1874520"/>
            <a:ext cx="3453384" cy="1417320"/>
          </a:xfrm>
          <a:prstGeom prst="roundRect">
            <a:avLst>
              <a:gd name="adj" fmla="val 3871"/>
            </a:avLst>
          </a:prstGeom>
          <a:solidFill>
            <a:srgbClr val="1419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kpi1_value"/>
          <p:cNvSpPr txBox="1"/>
          <p:nvPr/>
        </p:nvSpPr>
        <p:spPr>
          <a:xfrm>
            <a:off x="685800" y="2039112"/>
            <a:ext cx="3179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200"/>
            </a:pPr>
            <a:r>
              <a:rPr b="1">
                <a:solidFill>
                  <a:srgbClr val="FFFFFF"/>
                </a:solidFill>
              </a:rPr>
              <a:t>1,280.00M</a:t>
            </a:r>
            <a:endParaRPr lang="en-US" sz="3200" dirty="0"/>
          </a:p>
        </p:txBody>
      </p:sp>
      <p:sp>
        <p:nvSpPr>
          <p:cNvPr id="6" name="kpi1_label"/>
          <p:cNvSpPr txBox="1"/>
          <p:nvPr/>
        </p:nvSpPr>
        <p:spPr>
          <a:xfrm>
            <a:off x="685800" y="274320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200"/>
            </a:pPr>
            <a:r>
              <a:rPr b="1">
                <a:solidFill>
                  <a:srgbClr val="FFFFFF"/>
                </a:solidFill>
              </a:rPr>
              <a:t>Revenue (USD)</a:t>
            </a:r>
            <a:endParaRPr lang="en-US" sz="1100" dirty="0"/>
          </a:p>
        </p:txBody>
      </p:sp>
      <p:sp>
        <p:nvSpPr>
          <p:cNvPr id="7" name="kpi2_box"/>
          <p:cNvSpPr/>
          <p:nvPr/>
        </p:nvSpPr>
        <p:spPr>
          <a:xfrm>
            <a:off x="4367784" y="1874520"/>
            <a:ext cx="3453384" cy="1417320"/>
          </a:xfrm>
          <a:prstGeom prst="roundRect">
            <a:avLst>
              <a:gd name="adj" fmla="val 3871"/>
            </a:avLst>
          </a:prstGeom>
          <a:solidFill>
            <a:srgbClr val="1419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kpi2_value"/>
          <p:cNvSpPr txBox="1"/>
          <p:nvPr/>
        </p:nvSpPr>
        <p:spPr>
          <a:xfrm>
            <a:off x="4504944" y="2039112"/>
            <a:ext cx="3179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200"/>
            </a:pPr>
            <a:r>
              <a:rPr b="1">
                <a:solidFill>
                  <a:srgbClr val="FFFFFF"/>
                </a:solidFill>
              </a:rPr>
              <a:t>4.49%</a:t>
            </a:r>
            <a:endParaRPr lang="en-US" sz="3200" dirty="0"/>
          </a:p>
        </p:txBody>
      </p:sp>
      <p:sp>
        <p:nvSpPr>
          <p:cNvPr id="9" name="kpi2_label"/>
          <p:cNvSpPr txBox="1"/>
          <p:nvPr/>
        </p:nvSpPr>
        <p:spPr>
          <a:xfrm>
            <a:off x="4504944" y="274320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200"/>
            </a:pPr>
            <a:r>
              <a:rPr b="1">
                <a:solidFill>
                  <a:srgbClr val="FFFFFF"/>
                </a:solidFill>
              </a:rPr>
              <a:t>Revenue QoQ Change</a:t>
            </a:r>
            <a:endParaRPr lang="en-US" sz="1100" dirty="0"/>
          </a:p>
        </p:txBody>
      </p:sp>
      <p:sp>
        <p:nvSpPr>
          <p:cNvPr id="10" name="kpi3_box"/>
          <p:cNvSpPr/>
          <p:nvPr/>
        </p:nvSpPr>
        <p:spPr>
          <a:xfrm>
            <a:off x="8186928" y="1874520"/>
            <a:ext cx="3453384" cy="1417320"/>
          </a:xfrm>
          <a:prstGeom prst="roundRect">
            <a:avLst>
              <a:gd name="adj" fmla="val 3871"/>
            </a:avLst>
          </a:prstGeom>
          <a:solidFill>
            <a:srgbClr val="14193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kpi3_value"/>
          <p:cNvSpPr txBox="1"/>
          <p:nvPr/>
        </p:nvSpPr>
        <p:spPr>
          <a:xfrm>
            <a:off x="8324088" y="2039112"/>
            <a:ext cx="31790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200"/>
            </a:pPr>
            <a:r>
              <a:rPr b="1">
                <a:solidFill>
                  <a:srgbClr val="FFFFFF"/>
                </a:solidFill>
              </a:rPr>
              <a:t>49.75</a:t>
            </a:r>
            <a:endParaRPr lang="en-US" sz="3200" dirty="0"/>
          </a:p>
        </p:txBody>
      </p:sp>
      <p:sp>
        <p:nvSpPr>
          <p:cNvPr id="12" name="kpi3_label"/>
          <p:cNvSpPr txBox="1"/>
          <p:nvPr/>
        </p:nvSpPr>
        <p:spPr>
          <a:xfrm>
            <a:off x="8324088" y="274320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 sz="1200"/>
            </a:pPr>
            <a:r>
              <a:rPr b="1">
                <a:solidFill>
                  <a:srgbClr val="FFFFFF"/>
                </a:solidFill>
              </a:rPr>
              <a:t>Average NPS</a:t>
            </a:r>
            <a:endParaRPr lang="en-US" sz="1100" dirty="0"/>
          </a:p>
        </p:txBody>
      </p:sp>
      <p:sp>
        <p:nvSpPr>
          <p:cNvPr id="13" name="summary_label"/>
          <p:cNvSpPr txBox="1"/>
          <p:nvPr/>
        </p:nvSpPr>
        <p:spPr>
          <a:xfrm>
            <a:off x="548640" y="352044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300" dirty="0"/>
          </a:p>
        </p:txBody>
      </p:sp>
      <p:sp>
        <p:nvSpPr>
          <p:cNvPr id="14" name="summary_text"/>
          <p:cNvSpPr txBox="1"/>
          <p:nvPr/>
        </p:nvSpPr>
        <p:spPr>
          <a:xfrm>
            <a:off x="548640" y="3886200"/>
            <a:ext cx="92354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200"/>
            </a:pPr>
            <a:r>
              <a:rPr b="1">
                <a:solidFill>
                  <a:srgbClr val="FFFFFF"/>
                </a:solidFill>
              </a:rPr>
              <a:t>In 2026-Q2, revenue was 1280.00M USD versus 1225.00M USD in 2026-Q1. Revenue changed by 4.49%. Average NPS was 49.75, and the stockout rate was 7.20%. Review regional results and operational indicators before finalizing business actions.</a:t>
            </a:r>
            <a:endParaRPr lang="en-US" sz="1800" dirty="0"/>
          </a:p>
        </p:txBody>
      </p:sp>
      <p:sp>
        <p:nvSpPr>
          <p:cNvPr id="17" name="footer_1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Quarterly Business Review  —  Capstone Template</a:t>
            </a:r>
            <a:endParaRPr lang="en-US" sz="950" dirty="0"/>
          </a:p>
        </p:txBody>
      </p:sp>
      <p:sp>
        <p:nvSpPr>
          <p:cNvPr id="18" name="page_num_1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pic>
        <p:nvPicPr>
          <p:cNvPr id="19" name="Picture 18" descr="growth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2176" y="4379976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2"/>
          <p:cNvSpPr txBox="1"/>
          <p:nvPr/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200"/>
            </a:pPr>
            <a:r>
              <a:rPr sz="2400" b="1">
                <a:solidFill>
                  <a:srgbClr val="1F2D5B"/>
                </a:solidFill>
              </a:rPr>
              <a:t>APAC Leads Revenue Growth While Latin America Declines</a:t>
            </a:r>
            <a:endParaRPr lang="en-US" sz="2400" dirty="0"/>
          </a:p>
        </p:txBody>
      </p:sp>
      <p:sp>
        <p:nvSpPr>
          <p:cNvPr id="5" name="insights_performance"/>
          <p:cNvSpPr txBox="1"/>
          <p:nvPr/>
        </p:nvSpPr>
        <p:spPr>
          <a:xfrm>
            <a:off x="7543800" y="1417320"/>
            <a:ext cx="409651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200"/>
            </a:pPr>
            <a:r>
              <a:rPr sz="1300" b="0">
                <a:solidFill>
                  <a:srgbClr val="000000"/>
                </a:solidFill>
              </a:rPr>
              <a:t>• Revenue: 1,280.00M USD in 2026-Q2.</a:t>
            </a:r>
            <a:br/>
            <a:r>
              <a:rPr sz="1300" b="0">
                <a:solidFill>
                  <a:srgbClr val="000000"/>
                </a:solidFill>
              </a:rPr>
              <a:t>• Units sold: 3,250.00K.</a:t>
            </a:r>
            <a:br/>
            <a:r>
              <a:rPr sz="1300" b="0">
                <a:solidFill>
                  <a:srgbClr val="000000"/>
                </a:solidFill>
              </a:rPr>
              <a:t>• Revenue QoQ change: 4.49%.</a:t>
            </a:r>
            <a:br/>
            <a:r>
              <a:rPr sz="1300" b="0">
                <a:solidFill>
                  <a:srgbClr val="000000"/>
                </a:solidFill>
              </a:rPr>
              <a:t>• Compare regional returns and marketing spend with revenue performance.</a:t>
            </a:r>
            <a:endParaRPr lang="en-US" sz="1350" dirty="0"/>
          </a:p>
        </p:txBody>
      </p:sp>
      <p:sp>
        <p:nvSpPr>
          <p:cNvPr id="8" name="footer_2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Quarterly Business Review  —  Capstone Template</a:t>
            </a:r>
            <a:endParaRPr lang="en-US" sz="950" dirty="0"/>
          </a:p>
        </p:txBody>
      </p:sp>
      <p:sp>
        <p:nvSpPr>
          <p:cNvPr id="9" name="page_num_2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48640" y="1417320"/>
          <a:ext cx="667512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1" name="Picture 10" descr="globe_reg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5260" y="528066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3"/>
          <p:cNvSpPr txBox="1"/>
          <p:nvPr/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200"/>
            </a:pPr>
            <a:r>
              <a:rPr sz="2400" b="1">
                <a:solidFill>
                  <a:srgbClr val="1F2D5B"/>
                </a:solidFill>
              </a:rPr>
              <a:t>Customer Advocacy Improves by 0.5 NPS Points</a:t>
            </a:r>
            <a:endParaRPr lang="en-US" sz="2400" dirty="0"/>
          </a:p>
        </p:txBody>
      </p:sp>
      <p:sp>
        <p:nvSpPr>
          <p:cNvPr id="5" name="insights_customer"/>
          <p:cNvSpPr txBox="1"/>
          <p:nvPr/>
        </p:nvSpPr>
        <p:spPr>
          <a:xfrm>
            <a:off x="7543800" y="1417320"/>
            <a:ext cx="409651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200"/>
            </a:pPr>
            <a:r>
              <a:rPr sz="1300" b="0">
                <a:solidFill>
                  <a:srgbClr val="000000"/>
                </a:solidFill>
              </a:rPr>
              <a:t>• Average NPS: 49.75.</a:t>
            </a:r>
            <a:br/>
            <a:r>
              <a:rPr sz="1300" b="0">
                <a:solidFill>
                  <a:srgbClr val="000000"/>
                </a:solidFill>
              </a:rPr>
              <a:t>• Previous-quarter NPS: 49.25.</a:t>
            </a:r>
            <a:br/>
            <a:r>
              <a:rPr sz="1300" b="0">
                <a:solidFill>
                  <a:srgbClr val="000000"/>
                </a:solidFill>
              </a:rPr>
              <a:t>• NPS change: 0.50 points.</a:t>
            </a:r>
            <a:br/>
            <a:r>
              <a:rPr sz="1300" b="0">
                <a:solidFill>
                  <a:srgbClr val="000000"/>
                </a:solidFill>
              </a:rPr>
              <a:t>• Average CSAT: 85.75%.</a:t>
            </a:r>
            <a:br/>
            <a:r>
              <a:rPr sz="1300" b="0">
                <a:solidFill>
                  <a:srgbClr val="000000"/>
                </a:solidFill>
              </a:rPr>
              <a:t>• Monitor delivery days and support-ticket volume by region.</a:t>
            </a:r>
            <a:endParaRPr lang="en-US" sz="1350" dirty="0"/>
          </a:p>
        </p:txBody>
      </p:sp>
      <p:sp>
        <p:nvSpPr>
          <p:cNvPr id="8" name="footer_3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Quarterly Business Review  —  Capstone Template</a:t>
            </a:r>
            <a:endParaRPr lang="en-US" sz="950" dirty="0"/>
          </a:p>
        </p:txBody>
      </p:sp>
      <p:sp>
        <p:nvSpPr>
          <p:cNvPr id="9" name="page_num_3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48640" y="1417320"/>
          <a:ext cx="667512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1" name="Picture 10" descr="customer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5260" y="528066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4"/>
          <p:cNvSpPr txBox="1"/>
          <p:nvPr/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200"/>
            </a:pPr>
            <a:r>
              <a:rPr sz="2400" b="1">
                <a:solidFill>
                  <a:srgbClr val="1F2D5B"/>
                </a:solidFill>
              </a:rPr>
              <a:t>Stockout Risk Increases by 0.40 Percentage Points</a:t>
            </a:r>
            <a:endParaRPr lang="en-US" sz="2400" dirty="0"/>
          </a:p>
        </p:txBody>
      </p:sp>
      <p:sp>
        <p:nvSpPr>
          <p:cNvPr id="5" name="insights_risk"/>
          <p:cNvSpPr txBox="1"/>
          <p:nvPr/>
        </p:nvSpPr>
        <p:spPr>
          <a:xfrm>
            <a:off x="7543800" y="1417320"/>
            <a:ext cx="409651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200"/>
            </a:pPr>
            <a:r>
              <a:rPr sz="1300" b="0">
                <a:solidFill>
                  <a:srgbClr val="000000"/>
                </a:solidFill>
              </a:rPr>
              <a:t>• Average stockout rate: 7.20%.</a:t>
            </a:r>
            <a:br/>
            <a:r>
              <a:rPr sz="1300" b="0">
                <a:solidFill>
                  <a:srgbClr val="000000"/>
                </a:solidFill>
              </a:rPr>
              <a:t>• Previous-quarter rate: 6.80%.</a:t>
            </a:r>
            <a:br/>
            <a:r>
              <a:rPr sz="1300" b="0">
                <a:solidFill>
                  <a:srgbClr val="000000"/>
                </a:solidFill>
              </a:rPr>
              <a:t>• Change: 0.40 percentage points.</a:t>
            </a:r>
            <a:br/>
            <a:r>
              <a:rPr sz="1300" b="0">
                <a:solidFill>
                  <a:srgbClr val="000000"/>
                </a:solidFill>
              </a:rPr>
              <a:t>• Review return-processing time, warehouse capacity utilization, and fraud incidents for emerging risks.</a:t>
            </a:r>
            <a:endParaRPr lang="en-US" sz="1350" dirty="0"/>
          </a:p>
        </p:txBody>
      </p:sp>
      <p:sp>
        <p:nvSpPr>
          <p:cNvPr id="8" name="footer_4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Quarterly Business Review  —  Capstone Template</a:t>
            </a:r>
            <a:endParaRPr lang="en-US" sz="950" dirty="0"/>
          </a:p>
        </p:txBody>
      </p:sp>
      <p:sp>
        <p:nvSpPr>
          <p:cNvPr id="9" name="page_num_4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48640" y="1417320"/>
          <a:ext cx="6675120" cy="4800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1" name="Picture 10" descr="risk_al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5260" y="528066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5"/>
          <p:cNvSpPr txBox="1"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Actions &amp; Next Steps</a:t>
            </a:r>
            <a:endParaRPr lang="en-US" sz="2800" dirty="0"/>
          </a:p>
        </p:txBody>
      </p:sp>
      <p:sp>
        <p:nvSpPr>
          <p:cNvPr id="3" name="recommendations_text"/>
          <p:cNvSpPr txBox="1"/>
          <p:nvPr/>
        </p:nvSpPr>
        <p:spPr>
          <a:xfrm>
            <a:off x="548640" y="1463040"/>
            <a:ext cx="66751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200"/>
            </a:pPr>
            <a:r>
              <a:rPr b="1">
                <a:solidFill>
                  <a:srgbClr val="FFFFFF"/>
                </a:solidFill>
              </a:rPr>
              <a:t>1. Investigate regional revenue declines using actual sales and marketing data.</a:t>
            </a:r>
            <a:br/>
            <a:br/>
            <a:r>
              <a:rPr b="1">
                <a:solidFill>
                  <a:srgbClr val="FFFFFF"/>
                </a:solidFill>
              </a:rPr>
              <a:t>2. Prioritize regions with declining NPS or CSAT and review delivery and support-ticket trends.</a:t>
            </a:r>
            <a:br/>
            <a:br/>
            <a:r>
              <a:rPr b="1">
                <a:solidFill>
                  <a:srgbClr val="FFFFFF"/>
                </a:solidFill>
              </a:rPr>
              <a:t>3. Review stockout rates, warehouse utilization, and fraud incidents with operations owners.</a:t>
            </a:r>
            <a:br/>
            <a:br/>
            <a:r>
              <a:rPr b="1">
                <a:solidFill>
                  <a:srgbClr val="FFFFFF"/>
                </a:solidFill>
              </a:rPr>
              <a:t>4. Assign accountable owners and monitor the same metrics next quarter.</a:t>
            </a:r>
            <a:endParaRPr lang="en-US" sz="1600" dirty="0"/>
          </a:p>
        </p:txBody>
      </p:sp>
      <p:sp>
        <p:nvSpPr>
          <p:cNvPr id="6" name="closing_statement"/>
          <p:cNvSpPr txBox="1"/>
          <p:nvPr/>
        </p:nvSpPr>
        <p:spPr>
          <a:xfrm>
            <a:off x="548640" y="589788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 sz="1200"/>
            </a:pPr>
            <a:r>
              <a:rPr b="1">
                <a:solidFill>
                  <a:srgbClr val="FFFFFF"/>
                </a:solidFill>
              </a:rPr>
              <a:t>Use regional evidence to prioritize actions and validate their impact in the next quarterly review.</a:t>
            </a:r>
            <a:endParaRPr lang="en-US" sz="1400" dirty="0"/>
          </a:p>
        </p:txBody>
      </p:sp>
      <p:sp>
        <p:nvSpPr>
          <p:cNvPr id="7" name="footer_5"/>
          <p:cNvSpPr txBox="1"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NovaRetail Quarterly Business Review  —  Capstone Template</a:t>
            </a:r>
            <a:endParaRPr lang="en-US" sz="950" dirty="0"/>
          </a:p>
        </p:txBody>
      </p:sp>
      <p:sp>
        <p:nvSpPr>
          <p:cNvPr id="8" name="page_num_5"/>
          <p:cNvSpPr txBox="1"/>
          <p:nvPr/>
        </p:nvSpPr>
        <p:spPr>
          <a:xfrm>
            <a:off x="11274552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FB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pic>
        <p:nvPicPr>
          <p:cNvPr id="9" name="Picture 8" descr="lightbulb_a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178308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7f6b194-73f8-48d3-95d2-0d2530a9bb45}" enabled="1" method="Standard" siteId="{0483ae51-a627-466e-a7dd-de2ac7e1238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342</Words>
  <Application>Microsoft Office PowerPoint</Application>
  <PresentationFormat>Widescreen</PresentationFormat>
  <Paragraphs>37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Vanshika Sood</cp:lastModifiedBy>
  <cp:revision>1</cp:revision>
  <dcterms:created xsi:type="dcterms:W3CDTF">2026-10-05T14:35:45Z</dcterms:created>
  <dcterms:modified xsi:type="dcterms:W3CDTF">2026-10-22T08:08:00Z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Theme:3</vt:lpwstr>
  </property>
  <property fmtid="{D5CDD505-2E9C-101B-9397-08002B2CF9AE}" pid="3" name="ClassificationContentMarkingFooterText">
    <vt:lpwstr>Sensitivity: Internal</vt:lpwstr>
  </property>
</Properties>
</file>