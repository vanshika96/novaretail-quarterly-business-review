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Region Across Quarters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2026-Q1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Europe</c:v>
                </c:pt>
                <c:pt idx="2">
                  <c:v>Latin America</c:v>
                </c:pt>
                <c:pt idx="3">
                  <c:v>North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305.0</c:v>
                </c:pt>
                <c:pt idx="1">
                  <c:v>330.0</c:v>
                </c:pt>
                <c:pt idx="2">
                  <c:v>150.0</c:v>
                </c:pt>
                <c:pt idx="3">
                  <c:v>440.0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2026-Q2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Europe</c:v>
                </c:pt>
                <c:pt idx="2">
                  <c:v>Latin America</c:v>
                </c:pt>
                <c:pt idx="3">
                  <c:v>North America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330.0</c:v>
                </c:pt>
                <c:pt idx="1">
                  <c:v>345.0</c:v>
                </c:pt>
                <c:pt idx="2">
                  <c:v>140.0</c:v>
                </c:pt>
                <c:pt idx="3">
                  <c:v>465.0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NPS by Region | 2026-Q2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Europe</c:v>
                </c:pt>
                <c:pt idx="2">
                  <c:v>Latin America</c:v>
                </c:pt>
                <c:pt idx="3">
                  <c:v>North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62.0</c:v>
                </c:pt>
                <c:pt idx="1">
                  <c:v>53.0</c:v>
                </c:pt>
                <c:pt idx="2">
                  <c:v>29.0</c:v>
                </c:pt>
                <c:pt idx="3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Stockout Rate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Stockout_Rate_pct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Europe</c:v>
                </c:pt>
                <c:pt idx="2">
                  <c:v>Latin America</c:v>
                </c:pt>
                <c:pt idx="3">
                  <c:v>North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4.0</c:v>
                </c:pt>
                <c:pt idx="2">
                  <c:v>12.5</c:v>
                </c:pt>
                <c:pt idx="3">
                  <c:v>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2026-Q2 Business Review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1,280.00M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Revenue (USD)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4.49%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Revenue QoQ Change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49.75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Average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In 2026-Q2, revenue was 1280.00M USD versus 1225.00M USD in 2026-Q1. Revenue changed by 4.49%. Average NPS was 49.75, and the stockout rate was 7.20%. Review regional results and operational indicators before finalizing business actions.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9" name="Picture 18" descr="growth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76" y="4379976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rPr sz="2400" b="1">
                <a:solidFill>
                  <a:srgbClr val="1F2D5B"/>
                </a:solidFill>
              </a:rPr>
              <a:t>APAC Leads Revenue Growth While Latin America Declines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rPr sz="1300" b="0">
                <a:solidFill>
                  <a:srgbClr val="000000"/>
                </a:solidFill>
              </a:rPr>
              <a:t>• Revenue: 1,280.00M USD in 2026-Q2.</a:t>
            </a:r>
            <a:br/>
            <a:r>
              <a:rPr sz="1300" b="0">
                <a:solidFill>
                  <a:srgbClr val="000000"/>
                </a:solidFill>
              </a:rPr>
              <a:t>• Units sold: 3,250.00K.</a:t>
            </a:r>
            <a:br/>
            <a:r>
              <a:rPr sz="1300" b="0">
                <a:solidFill>
                  <a:srgbClr val="000000"/>
                </a:solidFill>
              </a:rPr>
              <a:t>• Revenue QoQ change: 4.49%.</a:t>
            </a:r>
            <a:br/>
            <a:r>
              <a:rPr sz="1300" b="0">
                <a:solidFill>
                  <a:srgbClr val="000000"/>
                </a:solidFill>
              </a:rPr>
              <a:t>• Compare regional returns and marketing spend with revenue performance.</a:t>
            </a:r>
            <a:endParaRPr lang="en-US" sz="1350" dirty="0"/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Picture 10" descr="globe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52806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t>Customer Advocacy Diverges Sharply, with Latin America Trailing Other Regions</a:t>
            </a:r>
            <a:endParaRPr lang="en-US" sz="2400" dirty="0"/>
          </a:p>
        </p:txBody>
      </p:sp>
      <p:sp>
        <p:nvSpPr>
          <p:cNvPr id="4" name="chart_customer_label"/>
          <p:cNvSpPr txBox="1"/>
          <p:nvPr/>
        </p:nvSpPr>
        <p:spPr>
          <a:xfrm>
            <a:off x="685800" y="1581912"/>
            <a:ext cx="6400800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chart 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line chart of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(or CSAT) by Region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(Customer_Experience sheet)</a:t>
            </a:r>
            <a:endParaRPr lang="en-US" sz="13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t>• APAC leads customer advocacy with NPS 62.</a:t>
            </a:r>
            <a:br/>
            <a:r>
              <a:t>• Latin America trails significantly at NPS 29.</a:t>
            </a:r>
            <a:br/>
            <a:r>
              <a:t>• Other regions remain stronger: North America (55), Europe (53).</a:t>
            </a:r>
            <a:br/>
            <a:r>
              <a:t>• Overall average NPS improved from 49.25 to 49.75, a +0.50-point QoQ change.</a:t>
            </a:r>
            <a:endParaRPr lang="en-US" sz="1350" dirty="0"/>
          </a:p>
        </p:txBody>
      </p:sp>
      <p:sp>
        <p:nvSpPr>
          <p:cNvPr id="6" name="icon_3"/>
          <p:cNvSpPr/>
          <p:nvPr/>
        </p:nvSpPr>
        <p:spPr>
          <a:xfrm>
            <a:off x="7543800" y="5166360"/>
            <a:ext cx="1325880" cy="1051560"/>
          </a:xfrm>
          <a:prstGeom prst="roundRect">
            <a:avLst>
              <a:gd name="adj" fmla="val 6957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7" name="icon_3_label"/>
          <p:cNvSpPr txBox="1"/>
          <p:nvPr/>
        </p:nvSpPr>
        <p:spPr>
          <a:xfrm>
            <a:off x="7680960" y="5330952"/>
            <a:ext cx="1051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rPr sz="2400" b="1">
                <a:solidFill>
                  <a:srgbClr val="1F2D5B"/>
                </a:solidFill>
              </a:rPr>
              <a:t>Stockout Risk Increases by 0.40 Percentage Points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rPr sz="1300" b="0">
                <a:solidFill>
                  <a:srgbClr val="000000"/>
                </a:solidFill>
              </a:rPr>
              <a:t>• Average stockout rate: 7.20%.</a:t>
            </a:r>
            <a:br/>
            <a:r>
              <a:rPr sz="1300" b="0">
                <a:solidFill>
                  <a:srgbClr val="000000"/>
                </a:solidFill>
              </a:rPr>
              <a:t>• Previous-quarter rate: 6.80%.</a:t>
            </a:r>
            <a:br/>
            <a:r>
              <a:rPr sz="1300" b="0">
                <a:solidFill>
                  <a:srgbClr val="000000"/>
                </a:solidFill>
              </a:rPr>
              <a:t>• Change: 0.40 percentage points.</a:t>
            </a:r>
            <a:br/>
            <a:r>
              <a:rPr sz="1300" b="0">
                <a:solidFill>
                  <a:srgbClr val="000000"/>
                </a:solidFill>
              </a:rPr>
              <a:t>• Review return-processing time, warehouse capacity utilization, and fraud incidents for emerging risks.</a:t>
            </a:r>
            <a:endParaRPr lang="en-US" sz="1350" dirty="0"/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Picture 10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52806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1. Investigate regional revenue declines using actual sales and marketing data.</a:t>
            </a:r>
            <a:br/>
            <a:br/>
            <a:r>
              <a:rPr b="1">
                <a:solidFill>
                  <a:srgbClr val="FFFFFF"/>
                </a:solidFill>
              </a:rPr>
              <a:t>2. Prioritize regions with declining NPS or CSAT and review delivery and support-ticket trends.</a:t>
            </a:r>
            <a:br/>
            <a:br/>
            <a:r>
              <a:rPr b="1">
                <a:solidFill>
                  <a:srgbClr val="FFFFFF"/>
                </a:solidFill>
              </a:rPr>
              <a:t>3. Review stockout rates, warehouse utilization, and fraud incidents with operations owners.</a:t>
            </a:r>
            <a:br/>
            <a:br/>
            <a:r>
              <a:rPr b="1">
                <a:solidFill>
                  <a:srgbClr val="FFFFFF"/>
                </a:solidFill>
              </a:rPr>
              <a:t>4. Assign accountable owners and monitor the same metrics next quarter.</a:t>
            </a:r>
            <a:endParaRPr lang="en-US" sz="1600" dirty="0"/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1200"/>
            </a:pPr>
            <a:r>
              <a:rPr b="1">
                <a:solidFill>
                  <a:srgbClr val="FFFFFF"/>
                </a:solidFill>
              </a:rPr>
              <a:t>Use regional evidence to prioritize actions and validate their impact in the next quarterly review.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9" name="Picture 8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783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